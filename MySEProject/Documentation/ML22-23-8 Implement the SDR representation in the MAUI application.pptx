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0" r:id="rId2"/>
    <p:sldId id="263" r:id="rId3"/>
    <p:sldId id="289" r:id="rId4"/>
    <p:sldId id="301" r:id="rId5"/>
    <p:sldId id="290" r:id="rId6"/>
    <p:sldId id="306" r:id="rId7"/>
    <p:sldId id="307" r:id="rId8"/>
    <p:sldId id="303" r:id="rId9"/>
    <p:sldId id="302" r:id="rId10"/>
    <p:sldId id="304" r:id="rId11"/>
    <p:sldId id="308" r:id="rId12"/>
    <p:sldId id="309" r:id="rId13"/>
    <p:sldId id="305" r:id="rId14"/>
    <p:sldId id="284" r:id="rId15"/>
    <p:sldId id="285" r:id="rId16"/>
    <p:sldId id="286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0606"/>
    <a:srgbClr val="706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16" autoAdjust="0"/>
    <p:restoredTop sz="94680" autoAdjust="0"/>
  </p:normalViewPr>
  <p:slideViewPr>
    <p:cSldViewPr>
      <p:cViewPr>
        <p:scale>
          <a:sx n="90" d="100"/>
          <a:sy n="90" d="100"/>
        </p:scale>
        <p:origin x="-2203" y="-81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56E9B-AA6C-4565-9E7F-312A352AD703}" type="datetimeFigureOut">
              <a:rPr lang="en-GB" smtClean="0"/>
              <a:t>27/03/2024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CC8A53-1179-4F34-930D-55DBBDBF57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6978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55dbe401f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55dbe401f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55dbe401f8_0_7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155dbe401f8_0_7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155dbe401f8_0_9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155dbe401f8_0_9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3849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155dbe401f8_0_9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155dbe401f8_0_9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38499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155dbe401f8_0_9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155dbe401f8_0_9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38499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155dbe401f8_0_9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155dbe401f8_0_9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38499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155dbe401f8_0_9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155dbe401f8_0_9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38499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155dbe401f8_0_9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155dbe401f8_0_9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38499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155dbe401f8_0_9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155dbe401f8_0_9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38499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155dbe401f8_0_9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155dbe401f8_0_9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38499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155dbe401f8_0_9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155dbe401f8_0_9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38499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155dbe401f8_0_9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155dbe401f8_0_9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38499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155dbe401f8_0_9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155dbe401f8_0_9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38499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155dbe401f8_0_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6" name="Google Shape;926;g155dbe401f8_0_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6" name="Google Shape;93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6" name="Google Shape;976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5"/>
          <p:cNvSpPr txBox="1">
            <a:spLocks noGrp="1"/>
          </p:cNvSpPr>
          <p:nvPr>
            <p:ph type="title"/>
          </p:nvPr>
        </p:nvSpPr>
        <p:spPr>
          <a:xfrm>
            <a:off x="713225" y="719333"/>
            <a:ext cx="77175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7" name="Google Shape;17;p45"/>
          <p:cNvSpPr txBox="1">
            <a:spLocks noGrp="1"/>
          </p:cNvSpPr>
          <p:nvPr>
            <p:ph type="subTitle" idx="1"/>
          </p:nvPr>
        </p:nvSpPr>
        <p:spPr>
          <a:xfrm>
            <a:off x="1821575" y="2704600"/>
            <a:ext cx="27615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None/>
              <a:defRPr sz="1400">
                <a:solidFill>
                  <a:srgbClr val="1A1A1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p45"/>
          <p:cNvSpPr txBox="1">
            <a:spLocks noGrp="1"/>
          </p:cNvSpPr>
          <p:nvPr>
            <p:ph type="title" idx="2"/>
          </p:nvPr>
        </p:nvSpPr>
        <p:spPr>
          <a:xfrm>
            <a:off x="837575" y="2049317"/>
            <a:ext cx="984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45"/>
          <p:cNvSpPr txBox="1">
            <a:spLocks noGrp="1"/>
          </p:cNvSpPr>
          <p:nvPr>
            <p:ph type="title" idx="3"/>
          </p:nvPr>
        </p:nvSpPr>
        <p:spPr>
          <a:xfrm>
            <a:off x="1821575" y="2217000"/>
            <a:ext cx="2761500" cy="4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0" name="Google Shape;20;p45"/>
          <p:cNvSpPr txBox="1">
            <a:spLocks noGrp="1"/>
          </p:cNvSpPr>
          <p:nvPr>
            <p:ph type="subTitle" idx="4"/>
          </p:nvPr>
        </p:nvSpPr>
        <p:spPr>
          <a:xfrm>
            <a:off x="1821575" y="5050600"/>
            <a:ext cx="27615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None/>
              <a:defRPr sz="1400">
                <a:solidFill>
                  <a:srgbClr val="1A1A1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1" name="Google Shape;21;p45"/>
          <p:cNvSpPr txBox="1">
            <a:spLocks noGrp="1"/>
          </p:cNvSpPr>
          <p:nvPr>
            <p:ph type="title" idx="5"/>
          </p:nvPr>
        </p:nvSpPr>
        <p:spPr>
          <a:xfrm>
            <a:off x="837575" y="4395333"/>
            <a:ext cx="984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2" name="Google Shape;22;p45"/>
          <p:cNvSpPr txBox="1">
            <a:spLocks noGrp="1"/>
          </p:cNvSpPr>
          <p:nvPr>
            <p:ph type="title" idx="6"/>
          </p:nvPr>
        </p:nvSpPr>
        <p:spPr>
          <a:xfrm>
            <a:off x="1821575" y="4563000"/>
            <a:ext cx="2761500" cy="4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3" name="Google Shape;23;p45"/>
          <p:cNvSpPr txBox="1">
            <a:spLocks noGrp="1"/>
          </p:cNvSpPr>
          <p:nvPr>
            <p:ph type="subTitle" idx="7"/>
          </p:nvPr>
        </p:nvSpPr>
        <p:spPr>
          <a:xfrm>
            <a:off x="5669275" y="2704600"/>
            <a:ext cx="27615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None/>
              <a:defRPr sz="14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4" name="Google Shape;24;p45"/>
          <p:cNvSpPr txBox="1">
            <a:spLocks noGrp="1"/>
          </p:cNvSpPr>
          <p:nvPr>
            <p:ph type="title" idx="8"/>
          </p:nvPr>
        </p:nvSpPr>
        <p:spPr>
          <a:xfrm>
            <a:off x="4685275" y="2049333"/>
            <a:ext cx="984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45"/>
          <p:cNvSpPr txBox="1">
            <a:spLocks noGrp="1"/>
          </p:cNvSpPr>
          <p:nvPr>
            <p:ph type="title" idx="9"/>
          </p:nvPr>
        </p:nvSpPr>
        <p:spPr>
          <a:xfrm>
            <a:off x="5669275" y="2217000"/>
            <a:ext cx="2761500" cy="4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6" name="Google Shape;26;p45"/>
          <p:cNvSpPr txBox="1">
            <a:spLocks noGrp="1"/>
          </p:cNvSpPr>
          <p:nvPr>
            <p:ph type="subTitle" idx="13"/>
          </p:nvPr>
        </p:nvSpPr>
        <p:spPr>
          <a:xfrm>
            <a:off x="5669275" y="5050600"/>
            <a:ext cx="27615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None/>
              <a:defRPr sz="14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7" name="Google Shape;27;p45"/>
          <p:cNvSpPr txBox="1">
            <a:spLocks noGrp="1"/>
          </p:cNvSpPr>
          <p:nvPr>
            <p:ph type="title" idx="14"/>
          </p:nvPr>
        </p:nvSpPr>
        <p:spPr>
          <a:xfrm>
            <a:off x="4685275" y="4395333"/>
            <a:ext cx="984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8" name="Google Shape;28;p45"/>
          <p:cNvSpPr txBox="1">
            <a:spLocks noGrp="1"/>
          </p:cNvSpPr>
          <p:nvPr>
            <p:ph type="title" idx="15"/>
          </p:nvPr>
        </p:nvSpPr>
        <p:spPr>
          <a:xfrm>
            <a:off x="5669275" y="4563000"/>
            <a:ext cx="2761500" cy="4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414647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text columns">
  <p:cSld name="Three text columns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2"/>
          <p:cNvSpPr txBox="1">
            <a:spLocks noGrp="1"/>
          </p:cNvSpPr>
          <p:nvPr>
            <p:ph type="title"/>
          </p:nvPr>
        </p:nvSpPr>
        <p:spPr>
          <a:xfrm>
            <a:off x="713225" y="719333"/>
            <a:ext cx="77175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7" name="Google Shape;57;p52"/>
          <p:cNvSpPr txBox="1">
            <a:spLocks noGrp="1"/>
          </p:cNvSpPr>
          <p:nvPr>
            <p:ph type="subTitle" idx="1"/>
          </p:nvPr>
        </p:nvSpPr>
        <p:spPr>
          <a:xfrm>
            <a:off x="713213" y="4307951"/>
            <a:ext cx="2517300" cy="1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None/>
              <a:defRPr sz="14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8" name="Google Shape;58;p52"/>
          <p:cNvSpPr txBox="1">
            <a:spLocks noGrp="1"/>
          </p:cNvSpPr>
          <p:nvPr>
            <p:ph type="title" idx="2"/>
          </p:nvPr>
        </p:nvSpPr>
        <p:spPr>
          <a:xfrm>
            <a:off x="713225" y="3087925"/>
            <a:ext cx="2517300" cy="4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9" name="Google Shape;59;p52"/>
          <p:cNvSpPr txBox="1">
            <a:spLocks noGrp="1"/>
          </p:cNvSpPr>
          <p:nvPr>
            <p:ph type="subTitle" idx="3"/>
          </p:nvPr>
        </p:nvSpPr>
        <p:spPr>
          <a:xfrm>
            <a:off x="3313325" y="4307951"/>
            <a:ext cx="2517300" cy="1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None/>
              <a:defRPr sz="14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0" name="Google Shape;60;p52"/>
          <p:cNvSpPr txBox="1">
            <a:spLocks noGrp="1"/>
          </p:cNvSpPr>
          <p:nvPr>
            <p:ph type="title" idx="4"/>
          </p:nvPr>
        </p:nvSpPr>
        <p:spPr>
          <a:xfrm>
            <a:off x="3313361" y="3087925"/>
            <a:ext cx="2517300" cy="4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61" name="Google Shape;61;p52"/>
          <p:cNvSpPr txBox="1">
            <a:spLocks noGrp="1"/>
          </p:cNvSpPr>
          <p:nvPr>
            <p:ph type="subTitle" idx="5"/>
          </p:nvPr>
        </p:nvSpPr>
        <p:spPr>
          <a:xfrm>
            <a:off x="5913437" y="4307951"/>
            <a:ext cx="2517300" cy="1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None/>
              <a:defRPr sz="14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2" name="Google Shape;62;p52"/>
          <p:cNvSpPr txBox="1">
            <a:spLocks noGrp="1"/>
          </p:cNvSpPr>
          <p:nvPr>
            <p:ph type="title" idx="6"/>
          </p:nvPr>
        </p:nvSpPr>
        <p:spPr>
          <a:xfrm>
            <a:off x="5913498" y="3087925"/>
            <a:ext cx="2517300" cy="4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268480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vices">
  <p:cSld name="Devices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0"/>
          <p:cNvSpPr txBox="1">
            <a:spLocks noGrp="1"/>
          </p:cNvSpPr>
          <p:nvPr>
            <p:ph type="title"/>
          </p:nvPr>
        </p:nvSpPr>
        <p:spPr>
          <a:xfrm>
            <a:off x="713225" y="719333"/>
            <a:ext cx="77175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23" name="Google Shape;123;p60"/>
          <p:cNvSpPr txBox="1">
            <a:spLocks noGrp="1"/>
          </p:cNvSpPr>
          <p:nvPr>
            <p:ph type="subTitle" idx="1"/>
          </p:nvPr>
        </p:nvSpPr>
        <p:spPr>
          <a:xfrm>
            <a:off x="6453775" y="3918767"/>
            <a:ext cx="1812000" cy="17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68870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0"/>
          <p:cNvSpPr txBox="1">
            <a:spLocks noGrp="1"/>
          </p:cNvSpPr>
          <p:nvPr>
            <p:ph type="title"/>
          </p:nvPr>
        </p:nvSpPr>
        <p:spPr>
          <a:xfrm>
            <a:off x="713225" y="719333"/>
            <a:ext cx="77175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0"/>
          <p:cNvSpPr txBox="1">
            <a:spLocks noGrp="1"/>
          </p:cNvSpPr>
          <p:nvPr>
            <p:ph type="body" idx="1"/>
          </p:nvPr>
        </p:nvSpPr>
        <p:spPr>
          <a:xfrm>
            <a:off x="713225" y="4468267"/>
            <a:ext cx="3729900" cy="17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8" name="Google Shape;48;p50"/>
          <p:cNvSpPr txBox="1">
            <a:spLocks noGrp="1"/>
          </p:cNvSpPr>
          <p:nvPr>
            <p:ph type="body" idx="2"/>
          </p:nvPr>
        </p:nvSpPr>
        <p:spPr>
          <a:xfrm>
            <a:off x="4928700" y="4468267"/>
            <a:ext cx="3729900" cy="17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50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911036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9"/>
          <p:cNvSpPr txBox="1">
            <a:spLocks noGrp="1"/>
          </p:cNvSpPr>
          <p:nvPr>
            <p:ph type="title"/>
          </p:nvPr>
        </p:nvSpPr>
        <p:spPr>
          <a:xfrm>
            <a:off x="713225" y="719333"/>
            <a:ext cx="77175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9"/>
          <p:cNvSpPr txBox="1">
            <a:spLocks noGrp="1"/>
          </p:cNvSpPr>
          <p:nvPr>
            <p:ph type="body" idx="1"/>
          </p:nvPr>
        </p:nvSpPr>
        <p:spPr>
          <a:xfrm>
            <a:off x="713225" y="1649033"/>
            <a:ext cx="7717500" cy="4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49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179488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1"/>
          <p:cNvSpPr/>
          <p:nvPr/>
        </p:nvSpPr>
        <p:spPr>
          <a:xfrm rot="5400000" flipH="1">
            <a:off x="440172" y="-891765"/>
            <a:ext cx="6915019" cy="8180312"/>
          </a:xfrm>
          <a:custGeom>
            <a:avLst/>
            <a:gdLst/>
            <a:ahLst/>
            <a:cxnLst/>
            <a:rect l="l" t="t" r="r" b="b"/>
            <a:pathLst>
              <a:path w="130112" h="209349" extrusionOk="0">
                <a:moveTo>
                  <a:pt x="130111" y="0"/>
                </a:moveTo>
                <a:cubicBezTo>
                  <a:pt x="112459" y="8358"/>
                  <a:pt x="101416" y="32809"/>
                  <a:pt x="94355" y="47625"/>
                </a:cubicBezTo>
                <a:cubicBezTo>
                  <a:pt x="88370" y="60188"/>
                  <a:pt x="82667" y="72981"/>
                  <a:pt x="74098" y="84166"/>
                </a:cubicBezTo>
                <a:cubicBezTo>
                  <a:pt x="64623" y="96527"/>
                  <a:pt x="51739" y="102743"/>
                  <a:pt x="37396" y="108688"/>
                </a:cubicBezTo>
                <a:cubicBezTo>
                  <a:pt x="26533" y="113194"/>
                  <a:pt x="13166" y="116835"/>
                  <a:pt x="6598" y="127235"/>
                </a:cubicBezTo>
                <a:cubicBezTo>
                  <a:pt x="191" y="137353"/>
                  <a:pt x="0" y="151304"/>
                  <a:pt x="2495" y="162508"/>
                </a:cubicBezTo>
                <a:cubicBezTo>
                  <a:pt x="6598" y="180975"/>
                  <a:pt x="16274" y="196726"/>
                  <a:pt x="29933" y="209349"/>
                </a:cubicBezTo>
                <a:lnTo>
                  <a:pt x="130111" y="209349"/>
                </a:lnTo>
                <a:lnTo>
                  <a:pt x="13011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1"/>
          <p:cNvSpPr/>
          <p:nvPr/>
        </p:nvSpPr>
        <p:spPr>
          <a:xfrm rot="5400000" flipH="1">
            <a:off x="685419" y="-976717"/>
            <a:ext cx="6452688" cy="7999749"/>
          </a:xfrm>
          <a:custGeom>
            <a:avLst/>
            <a:gdLst/>
            <a:ahLst/>
            <a:cxnLst/>
            <a:rect l="l" t="t" r="r" b="b"/>
            <a:pathLst>
              <a:path w="130112" h="209349" extrusionOk="0">
                <a:moveTo>
                  <a:pt x="130111" y="0"/>
                </a:moveTo>
                <a:cubicBezTo>
                  <a:pt x="112459" y="8358"/>
                  <a:pt x="101416" y="32809"/>
                  <a:pt x="94355" y="47625"/>
                </a:cubicBezTo>
                <a:cubicBezTo>
                  <a:pt x="88370" y="60188"/>
                  <a:pt x="82667" y="72981"/>
                  <a:pt x="74098" y="84166"/>
                </a:cubicBezTo>
                <a:cubicBezTo>
                  <a:pt x="64623" y="96527"/>
                  <a:pt x="51739" y="102743"/>
                  <a:pt x="37396" y="108688"/>
                </a:cubicBezTo>
                <a:cubicBezTo>
                  <a:pt x="26533" y="113194"/>
                  <a:pt x="13166" y="116835"/>
                  <a:pt x="6598" y="127235"/>
                </a:cubicBezTo>
                <a:cubicBezTo>
                  <a:pt x="191" y="137353"/>
                  <a:pt x="0" y="151304"/>
                  <a:pt x="2495" y="162508"/>
                </a:cubicBezTo>
                <a:cubicBezTo>
                  <a:pt x="6598" y="180975"/>
                  <a:pt x="16274" y="196726"/>
                  <a:pt x="29933" y="209349"/>
                </a:cubicBezTo>
                <a:lnTo>
                  <a:pt x="130111" y="209349"/>
                </a:lnTo>
                <a:lnTo>
                  <a:pt x="130111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61"/>
          <p:cNvSpPr txBox="1">
            <a:spLocks noGrp="1"/>
          </p:cNvSpPr>
          <p:nvPr>
            <p:ph type="ctrTitle"/>
          </p:nvPr>
        </p:nvSpPr>
        <p:spPr>
          <a:xfrm>
            <a:off x="713228" y="1540700"/>
            <a:ext cx="30435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PT Serif Caption"/>
              <a:buNone/>
              <a:defRPr sz="5000">
                <a:latin typeface="PT Serif Caption"/>
                <a:ea typeface="PT Serif Caption"/>
                <a:cs typeface="PT Serif Caption"/>
                <a:sym typeface="PT Serif Captio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8" name="Google Shape;128;p61"/>
          <p:cNvSpPr txBox="1">
            <a:spLocks noGrp="1"/>
          </p:cNvSpPr>
          <p:nvPr>
            <p:ph type="subTitle" idx="1"/>
          </p:nvPr>
        </p:nvSpPr>
        <p:spPr>
          <a:xfrm>
            <a:off x="713225" y="2732133"/>
            <a:ext cx="33708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9" name="Google Shape;129;p61"/>
          <p:cNvSpPr txBox="1"/>
          <p:nvPr/>
        </p:nvSpPr>
        <p:spPr>
          <a:xfrm>
            <a:off x="4571875" y="4679567"/>
            <a:ext cx="38589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CREDITS: This presentation template was created by </a:t>
            </a:r>
            <a:r>
              <a:rPr lang="en" sz="1200" b="1" i="0" u="none" strike="noStrike" cap="none">
                <a:solidFill>
                  <a:schemeClr val="accent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, including icons by </a:t>
            </a:r>
            <a:r>
              <a:rPr lang="en" sz="1200" b="1" i="0" u="none" strike="noStrike" cap="none">
                <a:solidFill>
                  <a:schemeClr val="accent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lang="en" sz="1200" b="1" i="0" u="none" strike="noStrike" cap="none">
                <a:solidFill>
                  <a:schemeClr val="accent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endParaRPr sz="1400" b="0" i="0" u="none" strike="noStrike" cap="none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62373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4" r:id="rId15"/>
    <p:sldLayoutId id="2147483665" r:id="rId16"/>
    <p:sldLayoutId id="2147483666" r:id="rId1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5" Type="http://schemas.openxmlformats.org/officeDocument/2006/relationships/hyperlink" Target="https://github.com/tongngocminhanh/MAUI_App_SDR/tree/master/MySEProject" TargetMode="External"/><Relationship Id="rId4" Type="http://schemas.openxmlformats.org/officeDocument/2006/relationships/hyperlink" Target="https://learn.microsoft.com/en-us/visualstudio/releases/2022/release-notes-v17.8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4" Type="http://schemas.openxmlformats.org/officeDocument/2006/relationships/hyperlink" Target="https://github.com/UniversityOfAppliedSciencesFrankfurt/se-cloud-2023-2024/blob/main/Project%20Ideas%202018-2023.docx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g155dbe401f8_0_6"/>
          <p:cNvGrpSpPr/>
          <p:nvPr/>
        </p:nvGrpSpPr>
        <p:grpSpPr>
          <a:xfrm>
            <a:off x="5210938" y="5498244"/>
            <a:ext cx="3847347" cy="841748"/>
            <a:chOff x="824525" y="3369250"/>
            <a:chExt cx="3935100" cy="807000"/>
          </a:xfrm>
        </p:grpSpPr>
        <p:sp>
          <p:nvSpPr>
            <p:cNvPr id="143" name="Google Shape;143;g155dbe401f8_0_6"/>
            <p:cNvSpPr/>
            <p:nvPr/>
          </p:nvSpPr>
          <p:spPr>
            <a:xfrm>
              <a:off x="900725" y="3445450"/>
              <a:ext cx="3858900" cy="7308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g155dbe401f8_0_6"/>
            <p:cNvSpPr/>
            <p:nvPr/>
          </p:nvSpPr>
          <p:spPr>
            <a:xfrm>
              <a:off x="824525" y="3369250"/>
              <a:ext cx="3858900" cy="730800"/>
            </a:xfrm>
            <a:prstGeom prst="roundRect">
              <a:avLst>
                <a:gd name="adj" fmla="val 50000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5" name="Google Shape;145;g155dbe401f8_0_6"/>
          <p:cNvSpPr txBox="1"/>
          <p:nvPr/>
        </p:nvSpPr>
        <p:spPr>
          <a:xfrm>
            <a:off x="5416193" y="5567164"/>
            <a:ext cx="3436837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 dirty="0">
                <a:latin typeface="Times New Roman"/>
                <a:ea typeface="Times New Roman"/>
                <a:cs typeface="Times New Roman"/>
                <a:sym typeface="Times New Roman"/>
              </a:rPr>
              <a:t>Anh Tong Ngoc Minh  - 1317815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latin typeface="Times New Roman"/>
                <a:ea typeface="Times New Roman"/>
                <a:cs typeface="Times New Roman"/>
                <a:sym typeface="Times New Roman"/>
              </a:rPr>
              <a:t>Son Pham Tien - 1318513</a:t>
            </a:r>
            <a:endParaRPr sz="1800" i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g155dbe401f8_0_6"/>
          <p:cNvSpPr/>
          <p:nvPr/>
        </p:nvSpPr>
        <p:spPr>
          <a:xfrm flipH="1">
            <a:off x="3273643" y="2816723"/>
            <a:ext cx="12334" cy="10415"/>
          </a:xfrm>
          <a:custGeom>
            <a:avLst/>
            <a:gdLst/>
            <a:ahLst/>
            <a:cxnLst/>
            <a:rect l="l" t="t" r="r" b="b"/>
            <a:pathLst>
              <a:path w="750" h="475" extrusionOk="0">
                <a:moveTo>
                  <a:pt x="99" y="474"/>
                </a:moveTo>
                <a:cubicBezTo>
                  <a:pt x="0" y="297"/>
                  <a:pt x="60" y="159"/>
                  <a:pt x="217" y="119"/>
                </a:cubicBezTo>
                <a:cubicBezTo>
                  <a:pt x="395" y="60"/>
                  <a:pt x="572" y="40"/>
                  <a:pt x="750" y="21"/>
                </a:cubicBezTo>
                <a:lnTo>
                  <a:pt x="730" y="1"/>
                </a:lnTo>
                <a:cubicBezTo>
                  <a:pt x="671" y="80"/>
                  <a:pt x="612" y="159"/>
                  <a:pt x="533" y="237"/>
                </a:cubicBezTo>
                <a:cubicBezTo>
                  <a:pt x="395" y="316"/>
                  <a:pt x="237" y="395"/>
                  <a:pt x="99" y="474"/>
                </a:cubicBezTo>
                <a:close/>
              </a:path>
            </a:pathLst>
          </a:custGeom>
          <a:solidFill>
            <a:srgbClr val="FFCA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155dbe401f8_0_6"/>
          <p:cNvSpPr/>
          <p:nvPr/>
        </p:nvSpPr>
        <p:spPr>
          <a:xfrm flipH="1">
            <a:off x="3269106" y="2810672"/>
            <a:ext cx="4884" cy="8683"/>
          </a:xfrm>
          <a:custGeom>
            <a:avLst/>
            <a:gdLst/>
            <a:ahLst/>
            <a:cxnLst/>
            <a:rect l="l" t="t" r="r" b="b"/>
            <a:pathLst>
              <a:path w="297" h="396" extrusionOk="0">
                <a:moveTo>
                  <a:pt x="21" y="297"/>
                </a:moveTo>
                <a:lnTo>
                  <a:pt x="297" y="1"/>
                </a:lnTo>
                <a:lnTo>
                  <a:pt x="297" y="1"/>
                </a:lnTo>
                <a:cubicBezTo>
                  <a:pt x="297" y="198"/>
                  <a:pt x="297" y="395"/>
                  <a:pt x="1" y="297"/>
                </a:cubicBezTo>
                <a:close/>
              </a:path>
            </a:pathLst>
          </a:custGeom>
          <a:solidFill>
            <a:srgbClr val="FFCA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155dbe401f8_0_6"/>
          <p:cNvSpPr/>
          <p:nvPr/>
        </p:nvSpPr>
        <p:spPr>
          <a:xfrm flipH="1">
            <a:off x="3263928" y="2810255"/>
            <a:ext cx="5197" cy="3048"/>
          </a:xfrm>
          <a:custGeom>
            <a:avLst/>
            <a:gdLst/>
            <a:ahLst/>
            <a:cxnLst/>
            <a:rect l="l" t="t" r="r" b="b"/>
            <a:pathLst>
              <a:path w="316" h="139" extrusionOk="0">
                <a:moveTo>
                  <a:pt x="1" y="20"/>
                </a:moveTo>
                <a:cubicBezTo>
                  <a:pt x="99" y="20"/>
                  <a:pt x="178" y="20"/>
                  <a:pt x="277" y="20"/>
                </a:cubicBezTo>
                <a:cubicBezTo>
                  <a:pt x="296" y="20"/>
                  <a:pt x="316" y="79"/>
                  <a:pt x="316" y="118"/>
                </a:cubicBezTo>
                <a:cubicBezTo>
                  <a:pt x="296" y="118"/>
                  <a:pt x="257" y="138"/>
                  <a:pt x="237" y="138"/>
                </a:cubicBezTo>
                <a:cubicBezTo>
                  <a:pt x="158" y="99"/>
                  <a:pt x="79" y="59"/>
                  <a:pt x="1" y="0"/>
                </a:cubicBezTo>
                <a:close/>
              </a:path>
            </a:pathLst>
          </a:custGeom>
          <a:solidFill>
            <a:srgbClr val="FFCA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155dbe401f8_0_6"/>
          <p:cNvSpPr/>
          <p:nvPr/>
        </p:nvSpPr>
        <p:spPr>
          <a:xfrm flipH="1">
            <a:off x="2270351" y="2051700"/>
            <a:ext cx="1316" cy="1755"/>
          </a:xfrm>
          <a:custGeom>
            <a:avLst/>
            <a:gdLst/>
            <a:ahLst/>
            <a:cxnLst/>
            <a:rect l="l" t="t" r="r" b="b"/>
            <a:pathLst>
              <a:path w="80" h="80" extrusionOk="0">
                <a:moveTo>
                  <a:pt x="59" y="60"/>
                </a:moveTo>
                <a:lnTo>
                  <a:pt x="0" y="79"/>
                </a:lnTo>
                <a:cubicBezTo>
                  <a:pt x="0" y="60"/>
                  <a:pt x="0" y="20"/>
                  <a:pt x="20" y="0"/>
                </a:cubicBezTo>
                <a:cubicBezTo>
                  <a:pt x="40" y="0"/>
                  <a:pt x="59" y="0"/>
                  <a:pt x="79" y="0"/>
                </a:cubicBezTo>
                <a:close/>
              </a:path>
            </a:pathLst>
          </a:custGeom>
          <a:solidFill>
            <a:srgbClr val="A492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155dbe401f8_0_6"/>
          <p:cNvSpPr txBox="1"/>
          <p:nvPr/>
        </p:nvSpPr>
        <p:spPr>
          <a:xfrm>
            <a:off x="457200" y="1600200"/>
            <a:ext cx="8229600" cy="2177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700" b="1" u="sng" dirty="0" smtClean="0">
                <a:latin typeface="+mj-lt"/>
                <a:ea typeface="Times New Roman"/>
                <a:cs typeface="Times New Roman"/>
                <a:sym typeface="Times New Roman"/>
              </a:rPr>
              <a:t>Software Engineering</a:t>
            </a:r>
            <a:endParaRPr sz="3700" b="1" u="sng" dirty="0">
              <a:latin typeface="+mj-lt"/>
              <a:ea typeface="Times New Roman"/>
              <a:cs typeface="Times New Roman"/>
              <a:sym typeface="Times New Roman"/>
            </a:endParaRPr>
          </a:p>
          <a:p>
            <a:pPr lvl="0" algn="ctr"/>
            <a:r>
              <a:rPr lang="en-GB" sz="3700" dirty="0" smtClean="0">
                <a:latin typeface="+mj-lt"/>
                <a:ea typeface="Times New Roman"/>
                <a:cs typeface="Times New Roman"/>
                <a:sym typeface="Times New Roman"/>
              </a:rPr>
              <a:t>ML22-23-8: Implement the SDR representation in the MAUI application</a:t>
            </a:r>
            <a:endParaRPr sz="3700" dirty="0">
              <a:latin typeface="+mj-lt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" name="Picture 17"/>
          <p:cNvPicPr/>
          <p:nvPr/>
        </p:nvPicPr>
        <p:blipFill>
          <a:blip r:embed="rId3"/>
          <a:srcRect l="1123" t="1436" r="86016" b="93173"/>
          <a:stretch>
            <a:fillRect/>
          </a:stretch>
        </p:blipFill>
        <p:spPr bwMode="auto">
          <a:xfrm>
            <a:off x="11381" y="0"/>
            <a:ext cx="1805777" cy="884117"/>
          </a:xfrm>
          <a:prstGeom prst="rect">
            <a:avLst/>
          </a:prstGeom>
        </p:spPr>
      </p:pic>
      <p:sp>
        <p:nvSpPr>
          <p:cNvPr id="19" name="Google Shape;145;g155dbe401f8_0_6"/>
          <p:cNvSpPr txBox="1"/>
          <p:nvPr/>
        </p:nvSpPr>
        <p:spPr>
          <a:xfrm>
            <a:off x="1603402" y="4038600"/>
            <a:ext cx="60960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i="1" dirty="0">
                <a:latin typeface="Times New Roman"/>
                <a:ea typeface="Times New Roman"/>
                <a:cs typeface="Times New Roman"/>
                <a:sym typeface="Times New Roman"/>
              </a:rPr>
              <a:t>--o-- Winter Semester 2023/24 _ </a:t>
            </a:r>
            <a:r>
              <a:rPr lang="en" i="1" dirty="0" smtClean="0">
                <a:latin typeface="Times New Roman"/>
                <a:ea typeface="Times New Roman"/>
                <a:cs typeface="Times New Roman"/>
                <a:sym typeface="Times New Roman"/>
              </a:rPr>
              <a:t>Damir Dobric -o-</a:t>
            </a:r>
            <a:r>
              <a:rPr lang="en" i="1" dirty="0"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sz="1800" i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33532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1028733"/>
            <a:ext cx="9144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Google Shape;297;p9"/>
          <p:cNvSpPr txBox="1">
            <a:spLocks noGrp="1"/>
          </p:cNvSpPr>
          <p:nvPr>
            <p:ph type="title"/>
          </p:nvPr>
        </p:nvSpPr>
        <p:spPr>
          <a:xfrm>
            <a:off x="2779102" y="243800"/>
            <a:ext cx="3585796" cy="76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r>
              <a:rPr lang="en" sz="3400" b="1" dirty="0" smtClean="0">
                <a:ea typeface="Times New Roman"/>
                <a:cs typeface="Times New Roman"/>
                <a:sym typeface="Times New Roman"/>
              </a:rPr>
              <a:t>1. Introduction</a:t>
            </a:r>
            <a:endParaRPr sz="3400" b="1" dirty="0"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" name="Picture 10"/>
          <p:cNvPicPr/>
          <p:nvPr/>
        </p:nvPicPr>
        <p:blipFill>
          <a:blip r:embed="rId3"/>
          <a:srcRect l="1123" t="1436" r="86016" b="93173"/>
          <a:stretch>
            <a:fillRect/>
          </a:stretch>
        </p:blipFill>
        <p:spPr bwMode="auto">
          <a:xfrm>
            <a:off x="-1" y="0"/>
            <a:ext cx="1805777" cy="8841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850" y="1752600"/>
            <a:ext cx="77343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2000" dirty="0" smtClean="0"/>
              <a:t>Work with .NET MAUI:  a cross-platform framework. Implement a MAUI App visualizing Sparse Distributed Representations (SDR).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000" dirty="0" smtClean="0"/>
              <a:t>Scope of </a:t>
            </a:r>
            <a:r>
              <a:rPr lang="en-GB" sz="2000" dirty="0"/>
              <a:t>the </a:t>
            </a:r>
            <a:r>
              <a:rPr lang="en-GB" sz="2000" dirty="0" smtClean="0"/>
              <a:t>project: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GB" sz="2000" dirty="0" smtClean="0"/>
              <a:t>Hardware and </a:t>
            </a:r>
            <a:r>
              <a:rPr lang="en-GB" sz="2000" dirty="0"/>
              <a:t>software </a:t>
            </a:r>
            <a:r>
              <a:rPr lang="en-GB" sz="2000" dirty="0" smtClean="0"/>
              <a:t>requirements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GB" sz="2000" dirty="0"/>
              <a:t>H</a:t>
            </a:r>
            <a:r>
              <a:rPr lang="en-GB" sz="2000" dirty="0" smtClean="0"/>
              <a:t>ow </a:t>
            </a:r>
            <a:r>
              <a:rPr lang="en-GB" sz="2000" dirty="0"/>
              <a:t>to implement the </a:t>
            </a:r>
            <a:r>
              <a:rPr lang="en-GB" sz="2000" dirty="0" smtClean="0"/>
              <a:t>required MAUI app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GB" sz="2000" dirty="0"/>
              <a:t>E</a:t>
            </a:r>
            <a:r>
              <a:rPr lang="en-GB" sz="2000" dirty="0" smtClean="0"/>
              <a:t>valuate </a:t>
            </a:r>
            <a:r>
              <a:rPr lang="en-GB" sz="2000" dirty="0"/>
              <a:t>the test </a:t>
            </a:r>
            <a:r>
              <a:rPr lang="en-GB" sz="2000" dirty="0" smtClean="0"/>
              <a:t>results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GB" sz="2000" dirty="0"/>
              <a:t>P</a:t>
            </a:r>
            <a:r>
              <a:rPr lang="en-GB" sz="2000" dirty="0" smtClean="0"/>
              <a:t>ossible improvements 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 smtClean="0"/>
              <a:t>Implementation </a:t>
            </a:r>
            <a:r>
              <a:rPr lang="en-GB" sz="2000" dirty="0"/>
              <a:t>of App SDR steps</a:t>
            </a:r>
            <a:r>
              <a:rPr lang="en-GB" sz="2000" dirty="0" smtClean="0"/>
              <a:t>: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GB" sz="2000" dirty="0"/>
              <a:t>Create a User Interface (UI) in the MAUI </a:t>
            </a:r>
            <a:r>
              <a:rPr lang="en-GB" sz="2000" dirty="0" smtClean="0"/>
              <a:t>getting inputs data and configurations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GB" sz="2000" dirty="0" smtClean="0"/>
              <a:t>Modify </a:t>
            </a:r>
            <a:r>
              <a:rPr lang="en-GB" sz="2000" dirty="0"/>
              <a:t>the logic behind the UI </a:t>
            </a:r>
            <a:r>
              <a:rPr lang="en-GB" sz="2000" dirty="0" smtClean="0"/>
              <a:t>elements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GB" sz="2000" dirty="0" smtClean="0"/>
              <a:t>Generate </a:t>
            </a:r>
            <a:r>
              <a:rPr lang="en-GB" sz="2000" dirty="0"/>
              <a:t>and implement an SDR drawing library to visualize the input data based on </a:t>
            </a:r>
            <a:r>
              <a:rPr lang="en-GB" sz="2000" dirty="0" smtClean="0"/>
              <a:t>requirements.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421501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/>
          <p:nvPr/>
        </p:nvPicPr>
        <p:blipFill>
          <a:blip r:embed="rId3"/>
          <a:srcRect l="1123" t="1436" r="86016" b="93173"/>
          <a:stretch>
            <a:fillRect/>
          </a:stretch>
        </p:blipFill>
        <p:spPr bwMode="auto">
          <a:xfrm>
            <a:off x="-1" y="0"/>
            <a:ext cx="1805777" cy="884117"/>
          </a:xfrm>
          <a:prstGeom prst="rect">
            <a:avLst/>
          </a:prstGeom>
        </p:spPr>
      </p:pic>
      <p:sp>
        <p:nvSpPr>
          <p:cNvPr id="9" name="Google Shape;297;p9"/>
          <p:cNvSpPr txBox="1">
            <a:spLocks/>
          </p:cNvSpPr>
          <p:nvPr/>
        </p:nvSpPr>
        <p:spPr>
          <a:xfrm>
            <a:off x="1524000" y="228600"/>
            <a:ext cx="6781800" cy="76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GB" sz="3400" b="1" dirty="0" smtClean="0">
                <a:solidFill>
                  <a:schemeClr val="tx1">
                    <a:lumMod val="50000"/>
                  </a:schemeClr>
                </a:solidFill>
                <a:ea typeface="Times New Roman"/>
                <a:cs typeface="Times New Roman"/>
                <a:sym typeface="Times New Roman"/>
              </a:rPr>
              <a:t>2. Requirements and Getting Started</a:t>
            </a:r>
            <a:endParaRPr lang="en-GB" sz="3400" b="1" dirty="0">
              <a:solidFill>
                <a:schemeClr val="tx1">
                  <a:lumMod val="50000"/>
                </a:schemeClr>
              </a:solidFill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1219200"/>
            <a:ext cx="3352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u="sng" dirty="0" smtClean="0"/>
              <a:t>a. Requirements [1]</a:t>
            </a:r>
            <a:endParaRPr lang="en-GB" sz="3000" u="sng" dirty="0"/>
          </a:p>
        </p:txBody>
      </p:sp>
      <p:sp>
        <p:nvSpPr>
          <p:cNvPr id="7" name="TextBox 6"/>
          <p:cNvSpPr txBox="1"/>
          <p:nvPr/>
        </p:nvSpPr>
        <p:spPr>
          <a:xfrm>
            <a:off x="372533" y="2158692"/>
            <a:ext cx="44196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GB" sz="2000" dirty="0" smtClean="0"/>
              <a:t>Implement the MAUI app used for SDR representation, with follows: 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GB" sz="2000" dirty="0" smtClean="0"/>
              <a:t>Draw the similar SDR representation like in file </a:t>
            </a:r>
            <a:r>
              <a:rPr lang="en-GB" sz="2000" i="1" dirty="0" smtClean="0"/>
              <a:t>draw_figure.py</a:t>
            </a:r>
            <a:endParaRPr lang="en-GB" sz="2000" dirty="0" smtClean="0"/>
          </a:p>
          <a:p>
            <a:pPr marL="914400" lvl="1" indent="-457200" algn="just">
              <a:buFont typeface="+mj-lt"/>
              <a:buAutoNum type="arabicPeriod"/>
            </a:pPr>
            <a:r>
              <a:rPr lang="en-GB" sz="2000" dirty="0" smtClean="0"/>
              <a:t>Use library </a:t>
            </a:r>
            <a:r>
              <a:rPr lang="en-GB" sz="2000" i="1" dirty="0" err="1" smtClean="0"/>
              <a:t>Maui.Graphics</a:t>
            </a:r>
            <a:endParaRPr lang="en-GB" sz="2000" i="1" dirty="0"/>
          </a:p>
          <a:p>
            <a:pPr marL="914400" lvl="1" indent="-457200" algn="just">
              <a:buFont typeface="+mj-lt"/>
              <a:buAutoNum type="arabicPeriod"/>
            </a:pPr>
            <a:r>
              <a:rPr lang="en-GB" sz="2000" dirty="0" smtClean="0"/>
              <a:t>All arguments taken in via UI (data and parameters).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GB" sz="2000" dirty="0" smtClean="0"/>
              <a:t>Implement drawing functionality with the created </a:t>
            </a:r>
            <a:r>
              <a:rPr lang="en-GB" sz="2000" i="1" dirty="0" err="1" smtClean="0"/>
              <a:t>SdrDrawerLib</a:t>
            </a:r>
            <a:endParaRPr lang="en-GB" sz="2000" i="1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702"/>
          <a:stretch/>
        </p:blipFill>
        <p:spPr>
          <a:xfrm>
            <a:off x="5376333" y="1600200"/>
            <a:ext cx="2887133" cy="45948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00600" y="6172200"/>
            <a:ext cx="4038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 smtClean="0"/>
              <a:t>Figure 1: Example of SDR representation </a:t>
            </a:r>
            <a:endParaRPr lang="en-GB" sz="1600" b="1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1028733"/>
            <a:ext cx="9144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440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0" y="1219200"/>
            <a:ext cx="9144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/>
          <p:nvPr/>
        </p:nvPicPr>
        <p:blipFill>
          <a:blip r:embed="rId3"/>
          <a:srcRect l="1123" t="1436" r="86016" b="93173"/>
          <a:stretch>
            <a:fillRect/>
          </a:stretch>
        </p:blipFill>
        <p:spPr bwMode="auto">
          <a:xfrm>
            <a:off x="-1" y="0"/>
            <a:ext cx="1805777" cy="884117"/>
          </a:xfrm>
          <a:prstGeom prst="rect">
            <a:avLst/>
          </a:prstGeom>
        </p:spPr>
      </p:pic>
      <p:sp>
        <p:nvSpPr>
          <p:cNvPr id="9" name="Google Shape;297;p9"/>
          <p:cNvSpPr txBox="1">
            <a:spLocks/>
          </p:cNvSpPr>
          <p:nvPr/>
        </p:nvSpPr>
        <p:spPr>
          <a:xfrm>
            <a:off x="1524000" y="442058"/>
            <a:ext cx="6781800" cy="76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GB" sz="3400" b="1" dirty="0" smtClean="0">
                <a:solidFill>
                  <a:schemeClr val="tx1">
                    <a:lumMod val="50000"/>
                  </a:schemeClr>
                </a:solidFill>
                <a:ea typeface="Times New Roman"/>
                <a:cs typeface="Times New Roman"/>
                <a:sym typeface="Times New Roman"/>
              </a:rPr>
              <a:t>2. Requirements and Getting Started</a:t>
            </a:r>
            <a:endParaRPr lang="en-GB" sz="3400" b="1" dirty="0">
              <a:solidFill>
                <a:schemeClr val="tx1">
                  <a:lumMod val="50000"/>
                </a:schemeClr>
              </a:solidFill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219200"/>
            <a:ext cx="3048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u="sng" dirty="0" smtClean="0"/>
              <a:t>b. Getting Started</a:t>
            </a:r>
            <a:endParaRPr lang="en-GB" sz="3000" u="sng" dirty="0"/>
          </a:p>
        </p:txBody>
      </p:sp>
      <p:sp>
        <p:nvSpPr>
          <p:cNvPr id="2" name="Rectangle 1"/>
          <p:cNvSpPr/>
          <p:nvPr/>
        </p:nvSpPr>
        <p:spPr>
          <a:xfrm>
            <a:off x="571500" y="2209800"/>
            <a:ext cx="80010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/>
              <a:t>The project integrates the latest </a:t>
            </a:r>
            <a:r>
              <a:rPr lang="en-GB" sz="2000" dirty="0" smtClean="0"/>
              <a:t>update </a:t>
            </a:r>
            <a:r>
              <a:rPr lang="en-GB" sz="2000" dirty="0" smtClean="0">
                <a:sym typeface="Wingdings" pitchFamily="2" charset="2"/>
              </a:rPr>
              <a:t></a:t>
            </a:r>
            <a:r>
              <a:rPr lang="en-GB" sz="2000" dirty="0" smtClean="0"/>
              <a:t> </a:t>
            </a:r>
            <a:r>
              <a:rPr lang="en-GB" sz="2000" dirty="0" smtClean="0"/>
              <a:t>Install </a:t>
            </a:r>
            <a:r>
              <a:rPr lang="en-GB" sz="2000" dirty="0"/>
              <a:t>at least the following version of IDE, text editor, and MAUI.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GB" sz="2000" dirty="0"/>
              <a:t>Microsoft Visual Studio Community 2022 - v17.8.6 </a:t>
            </a:r>
            <a:r>
              <a:rPr lang="en-GB" sz="2000" dirty="0" smtClean="0"/>
              <a:t>-</a:t>
            </a:r>
            <a:r>
              <a:rPr lang="en-GB" sz="2000" dirty="0" smtClean="0">
                <a:hlinkClick r:id="rId4" tooltip="https://learn.microsoft.com/en-us/visualstudio/releases/2022/release-notes-v17.8"/>
              </a:rPr>
              <a:t>https</a:t>
            </a:r>
            <a:r>
              <a:rPr lang="en-GB" sz="2000" dirty="0">
                <a:hlinkClick r:id="rId4" tooltip="https://learn.microsoft.com/en-us/visualstudio/releases/2022/release-notes-v17.8"/>
              </a:rPr>
              <a:t>://learn.microsoft.com/en-us/visualstudio/releases/2022/release-notes-v17.8</a:t>
            </a:r>
            <a:endParaRPr lang="en-GB" sz="2000" dirty="0"/>
          </a:p>
          <a:p>
            <a:pPr marL="342900" indent="-342900">
              <a:buFont typeface="Arial" pitchFamily="34" charset="0"/>
              <a:buChar char="•"/>
            </a:pPr>
            <a:r>
              <a:rPr lang="en-GB" sz="2000" dirty="0"/>
              <a:t>.NET MAUI 8.0 - when installing Visual Studio, choose .NET MAUI to integrate along with the installation. </a:t>
            </a:r>
            <a:endParaRPr lang="en-GB" sz="2000" dirty="0" smtClean="0"/>
          </a:p>
          <a:p>
            <a:pPr marL="355600" indent="-355600"/>
            <a:r>
              <a:rPr lang="en-GB" sz="2000" dirty="0" smtClean="0">
                <a:sym typeface="Wingdings" pitchFamily="2" charset="2"/>
              </a:rPr>
              <a:t>	 </a:t>
            </a:r>
            <a:r>
              <a:rPr lang="en-GB" sz="2000" dirty="0" smtClean="0"/>
              <a:t>From v17.8.6</a:t>
            </a:r>
            <a:r>
              <a:rPr lang="en-GB" sz="2000" dirty="0"/>
              <a:t>, .NET MAUI 8.0 </a:t>
            </a:r>
            <a:r>
              <a:rPr lang="en-GB" sz="2000" dirty="0" smtClean="0"/>
              <a:t>automatically supported.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GB" sz="2000" dirty="0"/>
              <a:t>More information: </a:t>
            </a:r>
            <a:r>
              <a:rPr lang="en-GB" sz="2000" dirty="0">
                <a:hlinkClick r:id="rId5"/>
              </a:rPr>
              <a:t>https://</a:t>
            </a:r>
            <a:r>
              <a:rPr lang="en-GB" sz="2000" dirty="0" smtClean="0">
                <a:hlinkClick r:id="rId5"/>
              </a:rPr>
              <a:t>github.com/tongngocminhanh/MAUI_App_SDR/tree/master/MySEProject</a:t>
            </a:r>
            <a:r>
              <a:rPr lang="en-GB" sz="2000" dirty="0" smtClean="0"/>
              <a:t> 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464085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0" y="1219200"/>
            <a:ext cx="9144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/>
          <p:nvPr/>
        </p:nvPicPr>
        <p:blipFill>
          <a:blip r:embed="rId3"/>
          <a:srcRect l="1123" t="1436" r="86016" b="93173"/>
          <a:stretch>
            <a:fillRect/>
          </a:stretch>
        </p:blipFill>
        <p:spPr bwMode="auto">
          <a:xfrm>
            <a:off x="-1" y="0"/>
            <a:ext cx="1805777" cy="884117"/>
          </a:xfrm>
          <a:prstGeom prst="rect">
            <a:avLst/>
          </a:prstGeom>
        </p:spPr>
      </p:pic>
      <p:sp>
        <p:nvSpPr>
          <p:cNvPr id="12" name="Google Shape;297;p9"/>
          <p:cNvSpPr txBox="1">
            <a:spLocks/>
          </p:cNvSpPr>
          <p:nvPr/>
        </p:nvSpPr>
        <p:spPr>
          <a:xfrm>
            <a:off x="1524000" y="442058"/>
            <a:ext cx="6553200" cy="76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GB" sz="3400" b="1" dirty="0" smtClean="0">
                <a:solidFill>
                  <a:schemeClr val="tx1">
                    <a:lumMod val="50000"/>
                  </a:schemeClr>
                </a:solidFill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3400" b="1" dirty="0">
                <a:solidFill>
                  <a:schemeClr val="tx1">
                    <a:lumMod val="50000"/>
                  </a:schemeClr>
                </a:solidFill>
                <a:ea typeface="Times New Roman"/>
                <a:cs typeface="Times New Roman"/>
                <a:sym typeface="Times New Roman"/>
              </a:rPr>
              <a:t>. Implementation of App SDR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936" y="2133600"/>
            <a:ext cx="8644128" cy="38465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52700" y="6172200"/>
            <a:ext cx="4038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 smtClean="0"/>
              <a:t>Figure </a:t>
            </a:r>
            <a:r>
              <a:rPr lang="en-GB" sz="1600" b="1" dirty="0" smtClean="0"/>
              <a:t>2: General structure of </a:t>
            </a:r>
            <a:r>
              <a:rPr lang="en-GB" sz="1600" b="1" dirty="0" err="1" smtClean="0"/>
              <a:t>AppSDR</a:t>
            </a:r>
            <a:endParaRPr lang="en-GB" sz="16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49936" y="1524000"/>
            <a:ext cx="8644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General inputs, outputs, connections among distinguished components if .NET MAUI app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4740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0" y="1219200"/>
            <a:ext cx="9144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/>
          <p:nvPr/>
        </p:nvPicPr>
        <p:blipFill>
          <a:blip r:embed="rId3"/>
          <a:srcRect l="1123" t="1436" r="86016" b="93173"/>
          <a:stretch>
            <a:fillRect/>
          </a:stretch>
        </p:blipFill>
        <p:spPr bwMode="auto">
          <a:xfrm>
            <a:off x="-1" y="0"/>
            <a:ext cx="1805777" cy="884117"/>
          </a:xfrm>
          <a:prstGeom prst="rect">
            <a:avLst/>
          </a:prstGeom>
        </p:spPr>
      </p:pic>
      <p:sp>
        <p:nvSpPr>
          <p:cNvPr id="12" name="Google Shape;297;p9"/>
          <p:cNvSpPr txBox="1">
            <a:spLocks/>
          </p:cNvSpPr>
          <p:nvPr/>
        </p:nvSpPr>
        <p:spPr>
          <a:xfrm>
            <a:off x="1524000" y="442058"/>
            <a:ext cx="6553200" cy="76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GB" sz="3400" b="1" dirty="0" smtClean="0">
                <a:solidFill>
                  <a:schemeClr val="tx1">
                    <a:lumMod val="50000"/>
                  </a:schemeClr>
                </a:solidFill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3400" b="1" dirty="0">
                <a:solidFill>
                  <a:schemeClr val="tx1">
                    <a:lumMod val="50000"/>
                  </a:schemeClr>
                </a:solidFill>
                <a:ea typeface="Times New Roman"/>
                <a:cs typeface="Times New Roman"/>
                <a:sym typeface="Times New Roman"/>
              </a:rPr>
              <a:t>. Implementation of App SDR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219200"/>
            <a:ext cx="3581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u="sng" dirty="0" smtClean="0"/>
              <a:t>a. UI implementation</a:t>
            </a:r>
            <a:endParaRPr lang="en-GB" sz="3000" u="sng" dirty="0"/>
          </a:p>
        </p:txBody>
      </p:sp>
      <p:sp>
        <p:nvSpPr>
          <p:cNvPr id="7" name="TextBox 6"/>
          <p:cNvSpPr txBox="1"/>
          <p:nvPr/>
        </p:nvSpPr>
        <p:spPr>
          <a:xfrm>
            <a:off x="3409950" y="6205729"/>
            <a:ext cx="4914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 smtClean="0"/>
              <a:t>Figure 3 : General display and connections of UI pages</a:t>
            </a:r>
            <a:endParaRPr lang="en-GB" sz="16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2209800"/>
            <a:ext cx="5486400" cy="351212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4800" y="2488535"/>
            <a:ext cx="26479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GB" dirty="0" smtClean="0"/>
              <a:t>Participating pages</a:t>
            </a:r>
          </a:p>
          <a:p>
            <a:pPr marL="342900" indent="-342900">
              <a:buAutoNum type="arabicPeriod"/>
            </a:pPr>
            <a:r>
              <a:rPr lang="en-GB" dirty="0" smtClean="0"/>
              <a:t>Main Page (Primary)</a:t>
            </a:r>
          </a:p>
          <a:p>
            <a:pPr marL="342900" indent="-342900">
              <a:buAutoNum type="arabicPeriod"/>
            </a:pPr>
            <a:r>
              <a:rPr lang="en-GB" dirty="0" smtClean="0"/>
              <a:t>Text Editor Page</a:t>
            </a:r>
          </a:p>
          <a:p>
            <a:pPr marL="342900" indent="-342900">
              <a:buAutoNum type="arabicPeriod"/>
            </a:pPr>
            <a:r>
              <a:rPr lang="en-GB" dirty="0" smtClean="0"/>
              <a:t>Page 1</a:t>
            </a:r>
          </a:p>
          <a:p>
            <a:endParaRPr lang="en-GB" dirty="0" smtClean="0"/>
          </a:p>
          <a:p>
            <a:pPr marL="285750" indent="-285750">
              <a:buFontTx/>
              <a:buChar char="-"/>
            </a:pPr>
            <a:r>
              <a:rPr lang="en-GB" dirty="0" smtClean="0"/>
              <a:t>Important content</a:t>
            </a:r>
          </a:p>
          <a:p>
            <a:pPr marL="342900" indent="-342900">
              <a:buAutoNum type="arabicPeriod"/>
            </a:pPr>
            <a:r>
              <a:rPr lang="en-GB" dirty="0" smtClean="0"/>
              <a:t>Layout</a:t>
            </a:r>
          </a:p>
          <a:p>
            <a:pPr marL="342900" indent="-342900">
              <a:buAutoNum type="arabicPeriod"/>
            </a:pPr>
            <a:r>
              <a:rPr lang="en-GB" dirty="0" smtClean="0"/>
              <a:t>Components position</a:t>
            </a:r>
          </a:p>
          <a:p>
            <a:pPr marL="342900" indent="-342900">
              <a:buAutoNum type="arabicPeriod"/>
            </a:pPr>
            <a:r>
              <a:rPr lang="en-GB" dirty="0" smtClean="0"/>
              <a:t>Navigation between pages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9295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0" y="1219200"/>
            <a:ext cx="9144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/>
          <p:nvPr/>
        </p:nvPicPr>
        <p:blipFill>
          <a:blip r:embed="rId3"/>
          <a:srcRect l="1123" t="1436" r="86016" b="93173"/>
          <a:stretch>
            <a:fillRect/>
          </a:stretch>
        </p:blipFill>
        <p:spPr bwMode="auto">
          <a:xfrm>
            <a:off x="-1" y="0"/>
            <a:ext cx="1805777" cy="884117"/>
          </a:xfrm>
          <a:prstGeom prst="rect">
            <a:avLst/>
          </a:prstGeom>
        </p:spPr>
      </p:pic>
      <p:sp>
        <p:nvSpPr>
          <p:cNvPr id="12" name="Google Shape;297;p9"/>
          <p:cNvSpPr txBox="1">
            <a:spLocks/>
          </p:cNvSpPr>
          <p:nvPr/>
        </p:nvSpPr>
        <p:spPr>
          <a:xfrm>
            <a:off x="1524000" y="442058"/>
            <a:ext cx="6553200" cy="76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GB" sz="3400" b="1" dirty="0" smtClean="0">
                <a:solidFill>
                  <a:schemeClr val="tx1">
                    <a:lumMod val="50000"/>
                  </a:schemeClr>
                </a:solidFill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3400" b="1" dirty="0">
                <a:solidFill>
                  <a:schemeClr val="tx1">
                    <a:lumMod val="50000"/>
                  </a:schemeClr>
                </a:solidFill>
                <a:ea typeface="Times New Roman"/>
                <a:cs typeface="Times New Roman"/>
                <a:sym typeface="Times New Roman"/>
              </a:rPr>
              <a:t>. Implementation of App SDR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219200"/>
            <a:ext cx="3581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u="sng" dirty="0" smtClean="0"/>
              <a:t>a. UI implementation</a:t>
            </a:r>
            <a:endParaRPr lang="en-GB" sz="3000" u="sng" dirty="0"/>
          </a:p>
        </p:txBody>
      </p:sp>
      <p:sp>
        <p:nvSpPr>
          <p:cNvPr id="7" name="TextBox 6"/>
          <p:cNvSpPr txBox="1"/>
          <p:nvPr/>
        </p:nvSpPr>
        <p:spPr>
          <a:xfrm>
            <a:off x="3409950" y="6205729"/>
            <a:ext cx="4914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 smtClean="0"/>
              <a:t>Figure </a:t>
            </a:r>
            <a:r>
              <a:rPr lang="en-GB" sz="1600" b="1" dirty="0" smtClean="0"/>
              <a:t>:</a:t>
            </a:r>
            <a:endParaRPr lang="en-GB" sz="1600" b="1" dirty="0"/>
          </a:p>
        </p:txBody>
      </p:sp>
    </p:spTree>
    <p:extLst>
      <p:ext uri="{BB962C8B-B14F-4D97-AF65-F5344CB8AC3E}">
        <p14:creationId xmlns:p14="http://schemas.microsoft.com/office/powerpoint/2010/main" val="1269763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0" y="1219200"/>
            <a:ext cx="9144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/>
          <p:nvPr/>
        </p:nvPicPr>
        <p:blipFill>
          <a:blip r:embed="rId3"/>
          <a:srcRect l="1123" t="1436" r="86016" b="93173"/>
          <a:stretch>
            <a:fillRect/>
          </a:stretch>
        </p:blipFill>
        <p:spPr bwMode="auto">
          <a:xfrm>
            <a:off x="-1" y="0"/>
            <a:ext cx="1805777" cy="884117"/>
          </a:xfrm>
          <a:prstGeom prst="rect">
            <a:avLst/>
          </a:prstGeom>
        </p:spPr>
      </p:pic>
      <p:sp>
        <p:nvSpPr>
          <p:cNvPr id="12" name="Google Shape;297;p9"/>
          <p:cNvSpPr txBox="1">
            <a:spLocks/>
          </p:cNvSpPr>
          <p:nvPr/>
        </p:nvSpPr>
        <p:spPr>
          <a:xfrm>
            <a:off x="1524000" y="442058"/>
            <a:ext cx="6553200" cy="76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GB" sz="3400" b="1" dirty="0" smtClean="0">
                <a:solidFill>
                  <a:schemeClr val="tx1">
                    <a:lumMod val="50000"/>
                  </a:schemeClr>
                </a:solidFill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3400" b="1" dirty="0">
                <a:solidFill>
                  <a:schemeClr val="tx1">
                    <a:lumMod val="50000"/>
                  </a:schemeClr>
                </a:solidFill>
                <a:ea typeface="Times New Roman"/>
                <a:cs typeface="Times New Roman"/>
                <a:sym typeface="Times New Roman"/>
              </a:rPr>
              <a:t>. Implementation of App SDR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219200"/>
            <a:ext cx="6324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u="sng" dirty="0"/>
              <a:t>b</a:t>
            </a:r>
            <a:r>
              <a:rPr lang="en-GB" sz="3000" u="sng" dirty="0" smtClean="0"/>
              <a:t>. </a:t>
            </a:r>
            <a:r>
              <a:rPr lang="en-GB" sz="3000" u="sng" dirty="0" smtClean="0"/>
              <a:t>SDR drawing library implementation</a:t>
            </a:r>
            <a:endParaRPr lang="en-GB" sz="3000" u="sng" dirty="0"/>
          </a:p>
        </p:txBody>
      </p:sp>
    </p:spTree>
    <p:extLst>
      <p:ext uri="{BB962C8B-B14F-4D97-AF65-F5344CB8AC3E}">
        <p14:creationId xmlns:p14="http://schemas.microsoft.com/office/powerpoint/2010/main" val="2823905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0" y="1219200"/>
            <a:ext cx="9144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/>
          <p:nvPr/>
        </p:nvPicPr>
        <p:blipFill>
          <a:blip r:embed="rId3"/>
          <a:srcRect l="1123" t="1436" r="86016" b="93173"/>
          <a:stretch>
            <a:fillRect/>
          </a:stretch>
        </p:blipFill>
        <p:spPr bwMode="auto">
          <a:xfrm>
            <a:off x="-1" y="0"/>
            <a:ext cx="1805777" cy="884117"/>
          </a:xfrm>
          <a:prstGeom prst="rect">
            <a:avLst/>
          </a:prstGeom>
        </p:spPr>
      </p:pic>
      <p:sp>
        <p:nvSpPr>
          <p:cNvPr id="12" name="Google Shape;297;p9"/>
          <p:cNvSpPr txBox="1">
            <a:spLocks/>
          </p:cNvSpPr>
          <p:nvPr/>
        </p:nvSpPr>
        <p:spPr>
          <a:xfrm>
            <a:off x="1524000" y="442058"/>
            <a:ext cx="6553200" cy="76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GB" sz="3400" b="1" dirty="0" smtClean="0">
                <a:solidFill>
                  <a:schemeClr val="tx1">
                    <a:lumMod val="50000"/>
                  </a:schemeClr>
                </a:solidFill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3400" b="1" dirty="0">
                <a:solidFill>
                  <a:schemeClr val="tx1">
                    <a:lumMod val="50000"/>
                  </a:schemeClr>
                </a:solidFill>
                <a:ea typeface="Times New Roman"/>
                <a:cs typeface="Times New Roman"/>
                <a:sym typeface="Times New Roman"/>
              </a:rPr>
              <a:t>. Implementation of App SDR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219200"/>
            <a:ext cx="411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u="sng" dirty="0"/>
              <a:t>c</a:t>
            </a:r>
            <a:r>
              <a:rPr lang="en-GB" sz="3000" u="sng" dirty="0" smtClean="0"/>
              <a:t>. </a:t>
            </a:r>
            <a:r>
              <a:rPr lang="en-GB" sz="3000" u="sng" dirty="0" smtClean="0"/>
              <a:t>Logic implementation</a:t>
            </a:r>
            <a:endParaRPr lang="en-GB" sz="3000" u="sng" dirty="0"/>
          </a:p>
        </p:txBody>
      </p:sp>
    </p:spTree>
    <p:extLst>
      <p:ext uri="{BB962C8B-B14F-4D97-AF65-F5344CB8AC3E}">
        <p14:creationId xmlns:p14="http://schemas.microsoft.com/office/powerpoint/2010/main" val="3693431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0" y="1219200"/>
            <a:ext cx="9144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/>
          <p:nvPr/>
        </p:nvPicPr>
        <p:blipFill>
          <a:blip r:embed="rId3"/>
          <a:srcRect l="1123" t="1436" r="86016" b="93173"/>
          <a:stretch>
            <a:fillRect/>
          </a:stretch>
        </p:blipFill>
        <p:spPr bwMode="auto">
          <a:xfrm>
            <a:off x="-1" y="0"/>
            <a:ext cx="1805777" cy="884117"/>
          </a:xfrm>
          <a:prstGeom prst="rect">
            <a:avLst/>
          </a:prstGeom>
        </p:spPr>
      </p:pic>
      <p:sp>
        <p:nvSpPr>
          <p:cNvPr id="12" name="Google Shape;297;p9"/>
          <p:cNvSpPr txBox="1">
            <a:spLocks/>
          </p:cNvSpPr>
          <p:nvPr/>
        </p:nvSpPr>
        <p:spPr>
          <a:xfrm>
            <a:off x="1524000" y="442058"/>
            <a:ext cx="6553200" cy="76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GB" sz="3400" b="1" dirty="0" smtClean="0">
                <a:solidFill>
                  <a:schemeClr val="tx1">
                    <a:lumMod val="50000"/>
                  </a:schemeClr>
                </a:solidFill>
                <a:ea typeface="Times New Roman"/>
                <a:cs typeface="Times New Roman"/>
                <a:sym typeface="Times New Roman"/>
              </a:rPr>
              <a:t>4. Testing and evaluation</a:t>
            </a:r>
            <a:endParaRPr lang="en-GB" sz="3400" b="1" dirty="0">
              <a:solidFill>
                <a:schemeClr val="tx1">
                  <a:lumMod val="50000"/>
                </a:schemeClr>
              </a:solidFill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1219200"/>
            <a:ext cx="1676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u="sng" dirty="0" smtClean="0"/>
              <a:t>a. Testing</a:t>
            </a:r>
            <a:endParaRPr lang="en-GB" sz="3000" u="sng" dirty="0"/>
          </a:p>
        </p:txBody>
      </p:sp>
      <p:sp>
        <p:nvSpPr>
          <p:cNvPr id="2" name="TextBox 1"/>
          <p:cNvSpPr txBox="1"/>
          <p:nvPr/>
        </p:nvSpPr>
        <p:spPr>
          <a:xfrm>
            <a:off x="1676400" y="1676400"/>
            <a:ext cx="5791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GB" dirty="0" smtClean="0"/>
              <a:t>Testing and evaluation on three cases. </a:t>
            </a:r>
            <a:endParaRPr lang="en-GB" dirty="0"/>
          </a:p>
          <a:p>
            <a:pPr marL="285750" indent="-285750">
              <a:lnSpc>
                <a:spcPct val="200000"/>
              </a:lnSpc>
              <a:buFont typeface="Arial" pitchFamily="34" charset="0"/>
              <a:buChar char="•"/>
            </a:pPr>
            <a:r>
              <a:rPr lang="en-GB" dirty="0" smtClean="0"/>
              <a:t>Case 1 and case 3 are illustrated in next slides. </a:t>
            </a:r>
          </a:p>
          <a:p>
            <a:pPr marL="285750" indent="-285750">
              <a:lnSpc>
                <a:spcPct val="200000"/>
              </a:lnSpc>
              <a:buFont typeface="Arial" pitchFamily="34" charset="0"/>
              <a:buChar char="•"/>
            </a:pPr>
            <a:r>
              <a:rPr lang="en-GB" dirty="0" smtClean="0"/>
              <a:t>Case 2 is too big to present =&gt; no test case 2 provided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820969"/>
              </p:ext>
            </p:extLst>
          </p:nvPr>
        </p:nvGraphicFramePr>
        <p:xfrm>
          <a:off x="1363313" y="3962400"/>
          <a:ext cx="6417374" cy="222504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845374"/>
                <a:gridCol w="1524000"/>
                <a:gridCol w="1524000"/>
                <a:gridCol w="1524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>
                          <a:solidFill>
                            <a:schemeClr val="tx1"/>
                          </a:solidFill>
                        </a:rPr>
                        <a:t>Case 1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>
                          <a:solidFill>
                            <a:schemeClr val="tx1"/>
                          </a:solidFill>
                        </a:rPr>
                        <a:t>Case 2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>
                          <a:solidFill>
                            <a:schemeClr val="tx1"/>
                          </a:solidFill>
                        </a:rPr>
                        <a:t>Case</a:t>
                      </a:r>
                      <a:r>
                        <a:rPr lang="en-GB" baseline="0" dirty="0" smtClean="0">
                          <a:solidFill>
                            <a:schemeClr val="tx1"/>
                          </a:solidFill>
                        </a:rPr>
                        <a:t> 3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Input parameters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Table</a:t>
                      </a:r>
                      <a:r>
                        <a:rPr lang="en-GB" baseline="0" dirty="0" smtClean="0"/>
                        <a:t> entry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Table</a:t>
                      </a:r>
                      <a:r>
                        <a:rPr lang="en-GB" baseline="0" dirty="0" smtClean="0"/>
                        <a:t> entry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Table</a:t>
                      </a:r>
                      <a:r>
                        <a:rPr lang="en-GB" baseline="0" dirty="0" smtClean="0"/>
                        <a:t> entry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Input SDR values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File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File 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Keyboard 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SDR columns 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&lt;30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&gt;1000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8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Screen fit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Fit 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Scroll view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Fit 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Saved</a:t>
                      </a:r>
                      <a:r>
                        <a:rPr lang="en-GB" baseline="0" dirty="0" smtClean="0"/>
                        <a:t> figure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Good quality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Bad</a:t>
                      </a:r>
                      <a:r>
                        <a:rPr lang="en-GB" baseline="0" dirty="0" smtClean="0"/>
                        <a:t> quality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Good quality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33500" y="3581400"/>
            <a:ext cx="6477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 smtClean="0"/>
              <a:t>Table 1: Comparison characteristic within 3 cases</a:t>
            </a:r>
            <a:endParaRPr lang="en-GB" sz="1600" b="1" dirty="0"/>
          </a:p>
        </p:txBody>
      </p:sp>
    </p:spTree>
    <p:extLst>
      <p:ext uri="{BB962C8B-B14F-4D97-AF65-F5344CB8AC3E}">
        <p14:creationId xmlns:p14="http://schemas.microsoft.com/office/powerpoint/2010/main" val="3370671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0" y="1219200"/>
            <a:ext cx="9144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/>
          <p:nvPr/>
        </p:nvPicPr>
        <p:blipFill>
          <a:blip r:embed="rId3"/>
          <a:srcRect l="1123" t="1436" r="86016" b="93173"/>
          <a:stretch>
            <a:fillRect/>
          </a:stretch>
        </p:blipFill>
        <p:spPr bwMode="auto">
          <a:xfrm>
            <a:off x="-1" y="0"/>
            <a:ext cx="1805777" cy="884117"/>
          </a:xfrm>
          <a:prstGeom prst="rect">
            <a:avLst/>
          </a:prstGeom>
        </p:spPr>
      </p:pic>
      <p:sp>
        <p:nvSpPr>
          <p:cNvPr id="12" name="Google Shape;297;p9"/>
          <p:cNvSpPr txBox="1">
            <a:spLocks/>
          </p:cNvSpPr>
          <p:nvPr/>
        </p:nvSpPr>
        <p:spPr>
          <a:xfrm>
            <a:off x="1524000" y="442058"/>
            <a:ext cx="6553200" cy="76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GB" sz="3400" b="1" dirty="0" smtClean="0">
                <a:solidFill>
                  <a:schemeClr val="tx1">
                    <a:lumMod val="50000"/>
                  </a:schemeClr>
                </a:solidFill>
                <a:ea typeface="Times New Roman"/>
                <a:cs typeface="Times New Roman"/>
                <a:sym typeface="Times New Roman"/>
              </a:rPr>
              <a:t>4. Testing and evaluation</a:t>
            </a:r>
            <a:endParaRPr lang="en-GB" sz="3400" b="1" dirty="0">
              <a:solidFill>
                <a:schemeClr val="tx1">
                  <a:lumMod val="50000"/>
                </a:schemeClr>
              </a:solidFill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1219200"/>
            <a:ext cx="1676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u="sng" dirty="0" smtClean="0"/>
              <a:t>a. Testing</a:t>
            </a:r>
            <a:endParaRPr lang="en-GB" sz="3000" u="sng" dirty="0"/>
          </a:p>
        </p:txBody>
      </p:sp>
      <p:grpSp>
        <p:nvGrpSpPr>
          <p:cNvPr id="7" name="Group 6"/>
          <p:cNvGrpSpPr/>
          <p:nvPr/>
        </p:nvGrpSpPr>
        <p:grpSpPr>
          <a:xfrm>
            <a:off x="273410" y="1906956"/>
            <a:ext cx="8597179" cy="3691468"/>
            <a:chOff x="457200" y="1832715"/>
            <a:chExt cx="8597179" cy="3691468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350" r="18056" b="7910"/>
            <a:stretch/>
          </p:blipFill>
          <p:spPr>
            <a:xfrm>
              <a:off x="457200" y="1832715"/>
              <a:ext cx="1998133" cy="3691468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1080"/>
            <a:stretch/>
          </p:blipFill>
          <p:spPr>
            <a:xfrm>
              <a:off x="2497666" y="1981199"/>
              <a:ext cx="6556713" cy="3542983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905000" y="6019800"/>
            <a:ext cx="5410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 smtClean="0"/>
              <a:t>Figure: Results of Python and App in case 1</a:t>
            </a:r>
            <a:endParaRPr lang="en-GB" sz="1400" b="1" dirty="0"/>
          </a:p>
        </p:txBody>
      </p:sp>
    </p:spTree>
    <p:extLst>
      <p:ext uri="{BB962C8B-B14F-4D97-AF65-F5344CB8AC3E}">
        <p14:creationId xmlns:p14="http://schemas.microsoft.com/office/powerpoint/2010/main" val="1097521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0" y="1219200"/>
            <a:ext cx="9144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/>
          <p:nvPr/>
        </p:nvPicPr>
        <p:blipFill>
          <a:blip r:embed="rId3"/>
          <a:srcRect l="1123" t="1436" r="86016" b="93173"/>
          <a:stretch>
            <a:fillRect/>
          </a:stretch>
        </p:blipFill>
        <p:spPr bwMode="auto">
          <a:xfrm>
            <a:off x="-1" y="0"/>
            <a:ext cx="1805777" cy="884117"/>
          </a:xfrm>
          <a:prstGeom prst="rect">
            <a:avLst/>
          </a:prstGeom>
        </p:spPr>
      </p:pic>
      <p:sp>
        <p:nvSpPr>
          <p:cNvPr id="12" name="Google Shape;297;p9"/>
          <p:cNvSpPr txBox="1">
            <a:spLocks/>
          </p:cNvSpPr>
          <p:nvPr/>
        </p:nvSpPr>
        <p:spPr>
          <a:xfrm>
            <a:off x="1805776" y="133518"/>
            <a:ext cx="3657600" cy="93928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GB" sz="3400" b="1" dirty="0" smtClean="0">
                <a:solidFill>
                  <a:schemeClr val="tx1">
                    <a:lumMod val="50000"/>
                  </a:schemeClr>
                </a:solidFill>
                <a:ea typeface="Times New Roman"/>
                <a:cs typeface="Times New Roman"/>
                <a:sym typeface="Times New Roman"/>
              </a:rPr>
              <a:t>4. Testing and evaluation</a:t>
            </a:r>
            <a:endParaRPr lang="en-GB" sz="3400" b="1" dirty="0">
              <a:solidFill>
                <a:schemeClr val="tx1">
                  <a:lumMod val="50000"/>
                </a:schemeClr>
              </a:solidFill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1219200"/>
            <a:ext cx="1676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u="sng" dirty="0" smtClean="0"/>
              <a:t>a. Testing</a:t>
            </a:r>
            <a:endParaRPr lang="en-GB" sz="3000" u="sng" dirty="0"/>
          </a:p>
        </p:txBody>
      </p:sp>
      <p:sp>
        <p:nvSpPr>
          <p:cNvPr id="9" name="TextBox 8"/>
          <p:cNvSpPr txBox="1"/>
          <p:nvPr/>
        </p:nvSpPr>
        <p:spPr>
          <a:xfrm>
            <a:off x="5562600" y="6561667"/>
            <a:ext cx="3581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 smtClean="0"/>
              <a:t>Figure: Results of App in case 3</a:t>
            </a:r>
            <a:endParaRPr lang="en-GB" sz="14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0"/>
            <a:ext cx="3556000" cy="66332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8000" y="2057400"/>
            <a:ext cx="4572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Enter text block for SDR values:</a:t>
            </a:r>
          </a:p>
          <a:p>
            <a:pPr marL="285750" indent="-285750">
              <a:buFont typeface="Arial" pitchFamily="34" charset="0"/>
              <a:buChar char="•"/>
            </a:pPr>
            <a:endParaRPr lang="en-GB" dirty="0" smtClean="0"/>
          </a:p>
          <a:p>
            <a:pPr lvl="1"/>
            <a:r>
              <a:rPr lang="en-GB" i="1" dirty="0" smtClean="0"/>
              <a:t>1021,1234,1542,1540,3333,1000 </a:t>
            </a:r>
            <a:r>
              <a:rPr lang="en-GB" i="1" dirty="0"/>
              <a:t>1214,5454,3454,2180,218 123, 124, 145, 156, 189, 656 5646, 9796, 478, 6786, 5250 464, 4646,4546,4455,778 1111,2222,3333,4444 5555,6666,7777,8888,9999 1234,5678,9123 10,8202,9025,2024,3058 </a:t>
            </a:r>
            <a:endParaRPr lang="en-GB" i="1" dirty="0" smtClean="0"/>
          </a:p>
          <a:p>
            <a:pPr lvl="1"/>
            <a:endParaRPr lang="en-GB" i="1" dirty="0" smtClean="0"/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dirty="0" smtClean="0"/>
              <a:t>Parameter is the same with case 1, except Graph Name and picture name.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6243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0" y="1219200"/>
            <a:ext cx="9144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/>
          <p:nvPr/>
        </p:nvPicPr>
        <p:blipFill>
          <a:blip r:embed="rId3"/>
          <a:srcRect l="1123" t="1436" r="86016" b="93173"/>
          <a:stretch>
            <a:fillRect/>
          </a:stretch>
        </p:blipFill>
        <p:spPr bwMode="auto">
          <a:xfrm>
            <a:off x="-1" y="0"/>
            <a:ext cx="1805777" cy="884117"/>
          </a:xfrm>
          <a:prstGeom prst="rect">
            <a:avLst/>
          </a:prstGeom>
        </p:spPr>
      </p:pic>
      <p:sp>
        <p:nvSpPr>
          <p:cNvPr id="12" name="Google Shape;297;p9"/>
          <p:cNvSpPr txBox="1">
            <a:spLocks/>
          </p:cNvSpPr>
          <p:nvPr/>
        </p:nvSpPr>
        <p:spPr>
          <a:xfrm>
            <a:off x="1524000" y="442058"/>
            <a:ext cx="6553200" cy="76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GB" sz="3400" b="1" dirty="0" smtClean="0">
                <a:solidFill>
                  <a:schemeClr val="tx1">
                    <a:lumMod val="50000"/>
                  </a:schemeClr>
                </a:solidFill>
                <a:ea typeface="Times New Roman"/>
                <a:cs typeface="Times New Roman"/>
                <a:sym typeface="Times New Roman"/>
              </a:rPr>
              <a:t>4. Testing and evaluation</a:t>
            </a:r>
            <a:endParaRPr lang="en-GB" sz="3400" b="1" dirty="0">
              <a:solidFill>
                <a:schemeClr val="tx1">
                  <a:lumMod val="50000"/>
                </a:schemeClr>
              </a:solidFill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1219200"/>
            <a:ext cx="2438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u="sng" dirty="0" smtClean="0"/>
              <a:t>b. </a:t>
            </a:r>
            <a:r>
              <a:rPr lang="en-GB" sz="3000" u="sng" dirty="0" err="1" smtClean="0"/>
              <a:t>Evalution</a:t>
            </a:r>
            <a:endParaRPr lang="en-GB" sz="3000" u="sng" dirty="0"/>
          </a:p>
        </p:txBody>
      </p:sp>
      <p:sp>
        <p:nvSpPr>
          <p:cNvPr id="2" name="Rectangle 1"/>
          <p:cNvSpPr/>
          <p:nvPr/>
        </p:nvSpPr>
        <p:spPr>
          <a:xfrm>
            <a:off x="723900" y="1981200"/>
            <a:ext cx="76962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itchFamily="34" charset="0"/>
              <a:buChar char="•"/>
            </a:pPr>
            <a:r>
              <a:rPr lang="en-GB" dirty="0" err="1"/>
              <a:t>AppSDR</a:t>
            </a:r>
            <a:r>
              <a:rPr lang="en-GB" dirty="0"/>
              <a:t> Excels Over Python </a:t>
            </a:r>
            <a:r>
              <a:rPr lang="en-GB" dirty="0" smtClean="0"/>
              <a:t>model in clarity</a:t>
            </a:r>
            <a:r>
              <a:rPr lang="en-GB" dirty="0"/>
              <a:t>, efficiency, and </a:t>
            </a:r>
            <a:r>
              <a:rPr lang="en-GB" dirty="0" smtClean="0"/>
              <a:t>functionality</a:t>
            </a:r>
            <a:endParaRPr lang="en-GB" dirty="0"/>
          </a:p>
          <a:p>
            <a:pPr marL="285750" indent="-285750">
              <a:lnSpc>
                <a:spcPct val="200000"/>
              </a:lnSpc>
              <a:buFont typeface="Arial" pitchFamily="34" charset="0"/>
              <a:buChar char="•"/>
            </a:pPr>
            <a:r>
              <a:rPr lang="en-GB" dirty="0"/>
              <a:t>Customizable Parameter </a:t>
            </a:r>
            <a:r>
              <a:rPr lang="en-GB" dirty="0" smtClean="0"/>
              <a:t>Handling add flexibility for user </a:t>
            </a:r>
            <a:r>
              <a:rPr lang="en-GB" dirty="0"/>
              <a:t>in graph customization and SDR value visualization within specified ranges.</a:t>
            </a:r>
          </a:p>
          <a:p>
            <a:pPr marL="285750" indent="-285750">
              <a:lnSpc>
                <a:spcPct val="200000"/>
              </a:lnSpc>
              <a:buFont typeface="Arial" pitchFamily="34" charset="0"/>
              <a:buChar char="•"/>
            </a:pPr>
            <a:r>
              <a:rPr lang="en-GB" dirty="0"/>
              <a:t>Efficient Data Handling: Manages large datasets </a:t>
            </a:r>
            <a:r>
              <a:rPr lang="en-GB" dirty="0" smtClean="0"/>
              <a:t>seamlessly</a:t>
            </a:r>
          </a:p>
          <a:p>
            <a:pPr marL="285750" indent="-285750">
              <a:lnSpc>
                <a:spcPct val="200000"/>
              </a:lnSpc>
              <a:buFont typeface="Arial" pitchFamily="34" charset="0"/>
              <a:buChar char="•"/>
            </a:pPr>
            <a:r>
              <a:rPr lang="en-GB" dirty="0" smtClean="0"/>
              <a:t>Accurate </a:t>
            </a:r>
            <a:r>
              <a:rPr lang="en-GB" dirty="0"/>
              <a:t>User Input Representation: Precisely </a:t>
            </a:r>
            <a:r>
              <a:rPr lang="en-GB" dirty="0" smtClean="0"/>
              <a:t>visualisation. </a:t>
            </a:r>
            <a:endParaRPr lang="en-GB" dirty="0"/>
          </a:p>
          <a:p>
            <a:pPr marL="285750" indent="-285750">
              <a:lnSpc>
                <a:spcPct val="200000"/>
              </a:lnSpc>
              <a:buFont typeface="Arial" pitchFamily="34" charset="0"/>
              <a:buChar char="•"/>
            </a:pPr>
            <a:r>
              <a:rPr lang="en-GB" dirty="0"/>
              <a:t>Areas for Improvement </a:t>
            </a:r>
            <a:r>
              <a:rPr lang="en-GB" dirty="0" smtClean="0"/>
              <a:t>Identified</a:t>
            </a:r>
          </a:p>
          <a:p>
            <a:pPr marL="285750" indent="-285750">
              <a:lnSpc>
                <a:spcPct val="200000"/>
              </a:lnSpc>
              <a:buFont typeface="Arial" pitchFamily="34" charset="0"/>
              <a:buChar char="•"/>
            </a:pPr>
            <a:r>
              <a:rPr lang="en-GB" dirty="0" smtClean="0"/>
              <a:t>Enhanced </a:t>
            </a:r>
            <a:r>
              <a:rPr lang="en-GB" dirty="0"/>
              <a:t>User Experience: With efficient parameter handling, robust visualization capabilities, and accurate data </a:t>
            </a:r>
            <a:r>
              <a:rPr lang="en-GB" dirty="0" smtClean="0"/>
              <a:t>representation.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602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155dbe401f8_0_730"/>
          <p:cNvSpPr/>
          <p:nvPr/>
        </p:nvSpPr>
        <p:spPr>
          <a:xfrm flipH="1">
            <a:off x="5229455" y="-799037"/>
            <a:ext cx="13856" cy="11701"/>
          </a:xfrm>
          <a:custGeom>
            <a:avLst/>
            <a:gdLst/>
            <a:ahLst/>
            <a:cxnLst/>
            <a:rect l="l" t="t" r="r" b="b"/>
            <a:pathLst>
              <a:path w="750" h="475" extrusionOk="0">
                <a:moveTo>
                  <a:pt x="99" y="474"/>
                </a:moveTo>
                <a:cubicBezTo>
                  <a:pt x="0" y="297"/>
                  <a:pt x="60" y="159"/>
                  <a:pt x="217" y="119"/>
                </a:cubicBezTo>
                <a:cubicBezTo>
                  <a:pt x="395" y="60"/>
                  <a:pt x="572" y="40"/>
                  <a:pt x="750" y="21"/>
                </a:cubicBezTo>
                <a:lnTo>
                  <a:pt x="730" y="1"/>
                </a:lnTo>
                <a:cubicBezTo>
                  <a:pt x="671" y="80"/>
                  <a:pt x="612" y="159"/>
                  <a:pt x="533" y="237"/>
                </a:cubicBezTo>
                <a:cubicBezTo>
                  <a:pt x="395" y="316"/>
                  <a:pt x="237" y="395"/>
                  <a:pt x="99" y="474"/>
                </a:cubicBezTo>
                <a:close/>
              </a:path>
            </a:pathLst>
          </a:custGeom>
          <a:solidFill>
            <a:srgbClr val="FFCA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g155dbe401f8_0_730"/>
          <p:cNvSpPr/>
          <p:nvPr/>
        </p:nvSpPr>
        <p:spPr>
          <a:xfrm flipH="1">
            <a:off x="5224357" y="-805836"/>
            <a:ext cx="5487" cy="9755"/>
          </a:xfrm>
          <a:custGeom>
            <a:avLst/>
            <a:gdLst/>
            <a:ahLst/>
            <a:cxnLst/>
            <a:rect l="l" t="t" r="r" b="b"/>
            <a:pathLst>
              <a:path w="297" h="396" extrusionOk="0">
                <a:moveTo>
                  <a:pt x="21" y="297"/>
                </a:moveTo>
                <a:lnTo>
                  <a:pt x="297" y="1"/>
                </a:lnTo>
                <a:lnTo>
                  <a:pt x="297" y="1"/>
                </a:lnTo>
                <a:cubicBezTo>
                  <a:pt x="297" y="198"/>
                  <a:pt x="297" y="395"/>
                  <a:pt x="1" y="297"/>
                </a:cubicBezTo>
                <a:close/>
              </a:path>
            </a:pathLst>
          </a:custGeom>
          <a:solidFill>
            <a:srgbClr val="FFCA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g155dbe401f8_0_730"/>
          <p:cNvSpPr/>
          <p:nvPr/>
        </p:nvSpPr>
        <p:spPr>
          <a:xfrm flipH="1">
            <a:off x="5218537" y="-806304"/>
            <a:ext cx="5838" cy="3424"/>
          </a:xfrm>
          <a:custGeom>
            <a:avLst/>
            <a:gdLst/>
            <a:ahLst/>
            <a:cxnLst/>
            <a:rect l="l" t="t" r="r" b="b"/>
            <a:pathLst>
              <a:path w="316" h="139" extrusionOk="0">
                <a:moveTo>
                  <a:pt x="1" y="20"/>
                </a:moveTo>
                <a:cubicBezTo>
                  <a:pt x="99" y="20"/>
                  <a:pt x="178" y="20"/>
                  <a:pt x="277" y="20"/>
                </a:cubicBezTo>
                <a:cubicBezTo>
                  <a:pt x="296" y="20"/>
                  <a:pt x="316" y="79"/>
                  <a:pt x="316" y="118"/>
                </a:cubicBezTo>
                <a:cubicBezTo>
                  <a:pt x="296" y="118"/>
                  <a:pt x="257" y="138"/>
                  <a:pt x="237" y="138"/>
                </a:cubicBezTo>
                <a:cubicBezTo>
                  <a:pt x="158" y="99"/>
                  <a:pt x="79" y="59"/>
                  <a:pt x="1" y="0"/>
                </a:cubicBezTo>
                <a:close/>
              </a:path>
            </a:pathLst>
          </a:custGeom>
          <a:solidFill>
            <a:srgbClr val="FFCA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g155dbe401f8_0_730"/>
          <p:cNvSpPr/>
          <p:nvPr/>
        </p:nvSpPr>
        <p:spPr>
          <a:xfrm flipH="1">
            <a:off x="4102213" y="-1658568"/>
            <a:ext cx="1478" cy="1971"/>
          </a:xfrm>
          <a:custGeom>
            <a:avLst/>
            <a:gdLst/>
            <a:ahLst/>
            <a:cxnLst/>
            <a:rect l="l" t="t" r="r" b="b"/>
            <a:pathLst>
              <a:path w="80" h="80" extrusionOk="0">
                <a:moveTo>
                  <a:pt x="59" y="60"/>
                </a:moveTo>
                <a:lnTo>
                  <a:pt x="0" y="79"/>
                </a:lnTo>
                <a:cubicBezTo>
                  <a:pt x="0" y="60"/>
                  <a:pt x="0" y="20"/>
                  <a:pt x="20" y="0"/>
                </a:cubicBezTo>
                <a:cubicBezTo>
                  <a:pt x="40" y="0"/>
                  <a:pt x="59" y="0"/>
                  <a:pt x="79" y="0"/>
                </a:cubicBezTo>
                <a:close/>
              </a:path>
            </a:pathLst>
          </a:custGeom>
          <a:solidFill>
            <a:srgbClr val="A492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028733"/>
            <a:ext cx="9144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/>
          <p:nvPr/>
        </p:nvPicPr>
        <p:blipFill>
          <a:blip r:embed="rId3"/>
          <a:srcRect l="1123" t="1436" r="86016" b="93173"/>
          <a:stretch>
            <a:fillRect/>
          </a:stretch>
        </p:blipFill>
        <p:spPr bwMode="auto">
          <a:xfrm>
            <a:off x="5080" y="0"/>
            <a:ext cx="1684482" cy="791565"/>
          </a:xfrm>
          <a:prstGeom prst="rect">
            <a:avLst/>
          </a:prstGeom>
        </p:spPr>
      </p:pic>
      <p:sp>
        <p:nvSpPr>
          <p:cNvPr id="11" name="Google Shape;297;p9"/>
          <p:cNvSpPr txBox="1">
            <a:spLocks noGrp="1"/>
          </p:cNvSpPr>
          <p:nvPr>
            <p:ph type="title"/>
          </p:nvPr>
        </p:nvSpPr>
        <p:spPr>
          <a:xfrm>
            <a:off x="2779102" y="191755"/>
            <a:ext cx="3585796" cy="76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r>
              <a:rPr lang="en-GB" sz="3400" b="1" dirty="0" smtClean="0">
                <a:solidFill>
                  <a:schemeClr val="tx1">
                    <a:lumMod val="50000"/>
                  </a:schemeClr>
                </a:solidFill>
                <a:ea typeface="Times New Roman"/>
                <a:cs typeface="Times New Roman"/>
                <a:sym typeface="Times New Roman"/>
              </a:rPr>
              <a:t>5. Conclusion</a:t>
            </a:r>
            <a:endParaRPr sz="3400" b="1" dirty="0">
              <a:solidFill>
                <a:schemeClr val="tx1">
                  <a:lumMod val="50000"/>
                </a:schemeClr>
              </a:solidFill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47321" y="1828800"/>
            <a:ext cx="761087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itchFamily="34" charset="0"/>
              <a:buChar char="•"/>
            </a:pPr>
            <a:r>
              <a:rPr lang="en-GB" dirty="0" smtClean="0"/>
              <a:t>Full fill project’s requirements: </a:t>
            </a:r>
            <a:r>
              <a:rPr lang="en-GB" dirty="0" err="1" smtClean="0"/>
              <a:t>AppSDR</a:t>
            </a:r>
            <a:r>
              <a:rPr lang="en-GB" dirty="0" smtClean="0"/>
              <a:t> taking inputs and producing SDR representations visualisation.</a:t>
            </a:r>
          </a:p>
          <a:p>
            <a:pPr marL="285750" indent="-285750">
              <a:lnSpc>
                <a:spcPct val="200000"/>
              </a:lnSpc>
              <a:buFont typeface="Arial" pitchFamily="34" charset="0"/>
              <a:buChar char="•"/>
            </a:pPr>
            <a:r>
              <a:rPr lang="en-GB" dirty="0" smtClean="0"/>
              <a:t>Compare with the existing model.</a:t>
            </a:r>
          </a:p>
          <a:p>
            <a:pPr marL="285750" indent="-285750">
              <a:lnSpc>
                <a:spcPct val="200000"/>
              </a:lnSpc>
              <a:buFont typeface="Arial" pitchFamily="34" charset="0"/>
              <a:buChar char="•"/>
            </a:pPr>
            <a:r>
              <a:rPr lang="en-GB" dirty="0" smtClean="0"/>
              <a:t>Adapt the new one: text editor directly from keyboards.</a:t>
            </a:r>
          </a:p>
          <a:p>
            <a:pPr marL="285750" indent="-285750">
              <a:lnSpc>
                <a:spcPct val="200000"/>
              </a:lnSpc>
              <a:buFont typeface="Arial" pitchFamily="34" charset="0"/>
              <a:buChar char="•"/>
            </a:pPr>
            <a:r>
              <a:rPr lang="en-GB" dirty="0" smtClean="0"/>
              <a:t>Place for improvements.</a:t>
            </a:r>
          </a:p>
          <a:p>
            <a:pPr marL="285750" indent="-285750">
              <a:lnSpc>
                <a:spcPct val="200000"/>
              </a:lnSpc>
              <a:buFont typeface="Arial" pitchFamily="34" charset="0"/>
              <a:buChar char="•"/>
            </a:pPr>
            <a:r>
              <a:rPr lang="en-GB" dirty="0" smtClean="0"/>
              <a:t>Generate relevant documentation for the project.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3168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/>
          <p:cNvPicPr/>
          <p:nvPr/>
        </p:nvPicPr>
        <p:blipFill>
          <a:blip r:embed="rId3"/>
          <a:srcRect l="1123" t="1436" r="86016" b="93173"/>
          <a:stretch>
            <a:fillRect/>
          </a:stretch>
        </p:blipFill>
        <p:spPr bwMode="auto">
          <a:xfrm>
            <a:off x="20320" y="1"/>
            <a:ext cx="1684482" cy="762000"/>
          </a:xfrm>
          <a:prstGeom prst="rect">
            <a:avLst/>
          </a:prstGeom>
        </p:spPr>
      </p:pic>
      <p:cxnSp>
        <p:nvCxnSpPr>
          <p:cNvPr id="41" name="Straight Connector 40"/>
          <p:cNvCxnSpPr/>
          <p:nvPr/>
        </p:nvCxnSpPr>
        <p:spPr>
          <a:xfrm>
            <a:off x="0" y="1028733"/>
            <a:ext cx="9144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oogle Shape;297;p9"/>
          <p:cNvSpPr txBox="1">
            <a:spLocks noGrp="1"/>
          </p:cNvSpPr>
          <p:nvPr>
            <p:ph type="title"/>
          </p:nvPr>
        </p:nvSpPr>
        <p:spPr>
          <a:xfrm>
            <a:off x="2590800" y="191755"/>
            <a:ext cx="4038600" cy="76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r>
              <a:rPr lang="en" sz="3400" b="1" dirty="0" smtClean="0">
                <a:solidFill>
                  <a:schemeClr val="tx1">
                    <a:lumMod val="50000"/>
                  </a:schemeClr>
                </a:solidFill>
                <a:ea typeface="Times New Roman"/>
                <a:cs typeface="Times New Roman"/>
                <a:sym typeface="Times New Roman"/>
              </a:rPr>
              <a:t>Referenced sources</a:t>
            </a:r>
            <a:endParaRPr sz="3400" b="1" dirty="0">
              <a:solidFill>
                <a:schemeClr val="tx1">
                  <a:lumMod val="50000"/>
                </a:schemeClr>
              </a:solidFill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4800" y="1371600"/>
            <a:ext cx="8458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/>
              <a:t>[1] </a:t>
            </a:r>
            <a:r>
              <a:rPr lang="en-GB" sz="1400" dirty="0" err="1" smtClean="0"/>
              <a:t>D.Dobric</a:t>
            </a:r>
            <a:r>
              <a:rPr lang="en-GB" sz="1400" dirty="0" smtClean="0"/>
              <a:t>, “Project ideas 2018-2023”, Frankfurt am Main, Germany. Frankfurt University of applied Sciences, October 2023. </a:t>
            </a:r>
            <a:r>
              <a:rPr lang="en-GB" sz="1400" dirty="0"/>
              <a:t>Accessed on: </a:t>
            </a:r>
            <a:r>
              <a:rPr lang="en-GB" sz="1400" dirty="0">
                <a:hlinkClick r:id="rId4"/>
              </a:rPr>
              <a:t>https://</a:t>
            </a:r>
            <a:r>
              <a:rPr lang="en-GB" sz="1400" dirty="0" smtClean="0">
                <a:hlinkClick r:id="rId4"/>
              </a:rPr>
              <a:t>github.com/UniversityOfAppliedSciencesFrankfurt/se-cloud-2023-2024/blob/main/Project%20Ideas%202018-2023.docx</a:t>
            </a:r>
            <a:r>
              <a:rPr lang="en-GB" sz="1400" dirty="0" smtClean="0"/>
              <a:t>.</a:t>
            </a:r>
            <a:r>
              <a:rPr lang="en-GB" sz="1400" dirty="0"/>
              <a:t> </a:t>
            </a:r>
            <a:endParaRPr lang="en-GB" sz="1400" dirty="0" smtClean="0"/>
          </a:p>
        </p:txBody>
      </p:sp>
    </p:spTree>
    <p:extLst>
      <p:ext uri="{BB962C8B-B14F-4D97-AF65-F5344CB8AC3E}">
        <p14:creationId xmlns:p14="http://schemas.microsoft.com/office/powerpoint/2010/main" val="1351367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26"/>
          <p:cNvSpPr txBox="1">
            <a:spLocks noGrp="1"/>
          </p:cNvSpPr>
          <p:nvPr>
            <p:ph type="ctrTitle"/>
          </p:nvPr>
        </p:nvSpPr>
        <p:spPr>
          <a:xfrm>
            <a:off x="1371600" y="1961160"/>
            <a:ext cx="6705600" cy="24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 dirty="0">
                <a:latin typeface="+mj-lt"/>
                <a:ea typeface="Times New Roman"/>
                <a:cs typeface="Times New Roman"/>
                <a:sym typeface="Times New Roman"/>
              </a:rPr>
              <a:t>Demo part </a:t>
            </a:r>
            <a:endParaRPr sz="7200" dirty="0">
              <a:latin typeface="+mj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343400" y="4404360"/>
            <a:ext cx="4572000" cy="1600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1854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6366</TotalTime>
  <Words>681</Words>
  <Application>Microsoft Office PowerPoint</Application>
  <PresentationFormat>On-screen Show (4:3)</PresentationFormat>
  <Paragraphs>110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1. 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5. Conclusion</vt:lpstr>
      <vt:lpstr>Referenced sources</vt:lpstr>
      <vt:lpstr>Demo part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Ngoc Minh Anh Tong</dc:creator>
  <cp:lastModifiedBy>ACER</cp:lastModifiedBy>
  <cp:revision>83</cp:revision>
  <dcterms:created xsi:type="dcterms:W3CDTF">2006-08-16T00:00:00Z</dcterms:created>
  <dcterms:modified xsi:type="dcterms:W3CDTF">2024-03-27T18:12:31Z</dcterms:modified>
</cp:coreProperties>
</file>